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7315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UD デジタル 教科書体 N-R"/>
              </a:rPr>
              <a:t>自由進度学習って</a:t>
            </a:r>
          </a:p>
          <a:p>
            <a:pPr algn="ctr"/>
            <a:r>
              <a:rPr sz="6600" b="1">
                <a:solidFill>
                  <a:srgbClr val="FFFFFF"/>
                </a:solidFill>
                <a:latin typeface="UD デジタル 教科書体 N-R"/>
              </a:rPr>
              <a:t>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D400"/>
                </a:solidFill>
                <a:latin typeface="UD デジタル 教科書体 N-R"/>
              </a:rPr>
              <a:t>5年4組 算数のすすめ方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4E8B"/>
                </a:solidFill>
                <a:latin typeface="UD デジタル 教科書体 N-R"/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UD デジタル 教科書体 N-R"/>
              </a:rPr>
              <a:t>これまでの算数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B7DD8"/>
                </a:solidFill>
                <a:latin typeface="UD デジタル 教科書体 N-R"/>
              </a:rPr>
              <a:t>いいところ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・みんなで同じめあてに向かう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・発表で考え方を比べられる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・先生がペースを作ってくれる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FD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876200"/>
                </a:solidFill>
                <a:latin typeface="UD デジタル 教科書体 N-R"/>
              </a:rPr>
              <a:t>むずかしいところ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・わかった人はもう一度同じ問題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・わからない人は次にすすんでしまう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UD デジタル 教科書体 N-R"/>
              </a:rPr>
              <a:t>・「もっとやりたい」がしにくい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自由進度学習は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ちょっとちがう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自分のペース・自分の作戦で進める。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わかった人はチャレンジ、迷った人はじっくり。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ぜんいんが「自分のペースで」進める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UD デジタル 教科書体 N-R"/>
              </a:rPr>
              <a:t>４つのステップ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ガイダンス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単元のめあて・流れを知る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743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計画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「学習の手引き」で自分の作戦を立てる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86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追究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886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自分のペースで問題を解いていく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29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まとめ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029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わかったことと、進め方をふり返る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だいじなのは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「現在地の把握」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今、自分はどこにいる？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何ができて、何がまだ？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→ 学習の手引きと大計画シートで、いつでも見られる。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迷子にならないために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45752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0">
                <a:solidFill>
                  <a:srgbClr val="FFD400"/>
                </a:solidFill>
                <a:latin typeface="UD デジタル 教科書体 N-R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計画は変えていい。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計画どおりにいかないことも、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大事な気づき。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20640"/>
            <a:ext cx="8531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D400"/>
                </a:solidFill>
                <a:latin typeface="UD デジタル 教科書体 N-R"/>
              </a:rPr>
              <a:t>— 樋口万太郎『その自由進度学習間違っていませんか』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◎○△で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正直にふり返る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◎ ばっちり ／ ○ できた ／ △ もう一回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大事なのは「なぜそうなった？」「次どうする？」を考えること。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ふり返り＝次の作戦会議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UD デジタル 教科書体 N-R"/>
              </a:rPr>
              <a:t>こまったときの順番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教科書を見直す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ふきだし・例題をもう一度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743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前の時間のノート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前の単元・前のページを見返す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86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となりの友達に聞く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886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「ここがわからないんだけど」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11091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3716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29200"/>
            <a:ext cx="41148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先生に聞く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029200"/>
            <a:ext cx="5486400" cy="9601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そこまでやってきたのに動けないとき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UD デジタル 教科書体 N-R"/>
              </a:rPr>
              <a:t>速くおわった人は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1672" cy="1432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3716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41148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攻略文をかく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54864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この単元のコツを自分の言葉で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78480"/>
            <a:ext cx="11091672" cy="1432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24200"/>
            <a:ext cx="13716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24200"/>
            <a:ext cx="41148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自作問題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24200"/>
            <a:ext cx="54864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問題を作って解説までかいてみる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02480"/>
            <a:ext cx="11091672" cy="143256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48200"/>
            <a:ext cx="13716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B7DD8"/>
                </a:solidFill>
                <a:latin typeface="UD デジタル 教科書体 N-R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648200"/>
            <a:ext cx="41148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4E8B"/>
                </a:solidFill>
                <a:latin typeface="UD デジタル 教科書体 N-R"/>
              </a:rPr>
              <a:t>教えに行く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648200"/>
            <a:ext cx="5486400" cy="1341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UD デジタル 教科書体 N-R"/>
              </a:rPr>
              <a:t>ペアの友達に説明する（教えると一番分かる）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UD デジタル 教科書体 N-R"/>
              </a:rPr>
              <a:t>アプリの使い方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5753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5753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3B7DD8"/>
                </a:solidFill>
                <a:latin typeface="UD デジタル 教科書体 N-R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35753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F4E8B"/>
                </a:solidFill>
                <a:latin typeface="UD デジタル 教科書体 N-R"/>
              </a:rPr>
              <a:t>手引き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32095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UD デジタル 教科書体 N-R"/>
              </a:rPr>
              <a:t>単元の目標・項目を見る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828800"/>
            <a:ext cx="35753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2011680"/>
            <a:ext cx="35753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3B7DD8"/>
                </a:solidFill>
                <a:latin typeface="UD デジタル 教科書体 N-R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3108960"/>
            <a:ext cx="35753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F4E8B"/>
                </a:solidFill>
                <a:latin typeface="UD デジタル 教科書体 N-R"/>
              </a:rPr>
              <a:t>きょう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4023360"/>
            <a:ext cx="32095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UD デジタル 教科書体 N-R"/>
              </a:rPr>
              <a:t>今日のけ（計画）と◎○△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828800"/>
            <a:ext cx="35753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011680"/>
            <a:ext cx="35753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3B7DD8"/>
                </a:solidFill>
                <a:latin typeface="UD デジタル 教科書体 N-R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108960"/>
            <a:ext cx="35753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F4E8B"/>
                </a:solidFill>
                <a:latin typeface="UD デジタル 教科書体 N-R"/>
              </a:rPr>
              <a:t>振り返り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023360"/>
            <a:ext cx="32095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UD デジタル 教科書体 N-R"/>
              </a:rPr>
              <a:t>なぜ・次の作戦をきろく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ぜんぶ自分のChromebookから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クラスの約束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進度より、わかったかどうか。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速いことより、自分で気づくこと。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まわりと比べず、昨日の自分と比べる。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みんなで支え合って進める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いっしょに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UD デジタル 教科書体 N-R"/>
              </a:rPr>
              <a:t>やってみよう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迷ったら手引きを見る。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進めたら◎○△でふり返る。</a:t>
            </a:r>
          </a:p>
          <a:p>
            <a:pPr algn="ctr"/>
            <a:r>
              <a:rPr sz="3000" b="0">
                <a:solidFill>
                  <a:srgbClr val="222222"/>
                </a:solidFill>
                <a:latin typeface="UD デジタル 教科書体 N-R"/>
              </a:rPr>
              <a:t>速くおわったら攻略文・教えに行く。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UD デジタル 教科書体 N-R"/>
              </a:rPr>
              <a:t>明日からスタート！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